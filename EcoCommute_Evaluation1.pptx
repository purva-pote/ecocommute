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AIY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02098"/>
            <a:ext cx="9144000" cy="241402"/>
          </a:xfrm>
          <a:prstGeom prst="rect">
            <a:avLst/>
          </a:prstGeom>
          <a:solidFill>
            <a:srgbClr val="A42530"/>
          </a:solidFill>
          <a:ln w="12700">
            <a:solidFill>
              <a:srgbClr val="A42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9704"/>
            <a:ext cx="584302" cy="653796"/>
          </a:xfrm>
          <a:prstGeom prst="rect">
            <a:avLst/>
          </a:prstGeom>
          <a:solidFill>
            <a:srgbClr val="A42530"/>
          </a:solidFill>
          <a:ln w="12700">
            <a:solidFill>
              <a:srgbClr val="A425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74306" y="4699102"/>
            <a:ext cx="1669694" cy="444398"/>
          </a:xfrm>
          <a:prstGeom prst="rect">
            <a:avLst/>
          </a:prstGeom>
          <a:solidFill>
            <a:srgbClr val="DA222A"/>
          </a:solidFill>
          <a:ln w="12700">
            <a:solidFill>
              <a:srgbClr val="DA222A"/>
            </a:solidFill>
            <a:prstDash val="solid"/>
          </a:ln>
        </p:spPr>
      </p:sp>
      <p:pic>
        <p:nvPicPr>
          <p:cNvPr id="5" name="Image 0" descr="Somaiya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402" y="202997"/>
            <a:ext cx="1441094" cy="425196"/>
          </a:xfrm>
          <a:prstGeom prst="rect">
            <a:avLst/>
          </a:prstGeom>
        </p:spPr>
      </p:pic>
      <p:pic>
        <p:nvPicPr>
          <p:cNvPr id="6" name="Image 1" descr="Somaiya Trust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1002" y="202997"/>
            <a:ext cx="425196" cy="32369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0" y="109728"/>
            <a:ext cx="1463040" cy="1463040"/>
          </a:xfrm>
          <a:prstGeom prst="ellipse">
            <a:avLst/>
          </a:prstGeom>
          <a:solidFill>
            <a:srgbClr val="E3F4E8"/>
          </a:solidFill>
          <a:ln w="25400">
            <a:solidFill>
              <a:srgbClr val="2E8B5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828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840480" y="9875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6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EcoCommute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645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EcoCommute</a:t>
            </a:r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A sustainable transportation platform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2212848"/>
            <a:ext cx="3977640" cy="1170432"/>
          </a:xfrm>
          <a:prstGeom prst="roundRect">
            <a:avLst>
              <a:gd name="adj" fmla="val 6250"/>
            </a:avLst>
          </a:prstGeom>
          <a:solidFill>
            <a:srgbClr val="FFF1D6"/>
          </a:solidFill>
          <a:ln w="12700">
            <a:solidFill>
              <a:srgbClr val="EDCB8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22576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97280" y="23042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SDG 11: Sustainable Cities and Communities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276148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Encourages walking, cycling, public transport and carpooling, reducing reliance on private vehicles and easing congestion and pollution in cities.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663440" y="2212848"/>
            <a:ext cx="3977640" cy="1170432"/>
          </a:xfrm>
          <a:prstGeom prst="roundRect">
            <a:avLst>
              <a:gd name="adj" fmla="val 6250"/>
            </a:avLst>
          </a:prstGeom>
          <a:solidFill>
            <a:srgbClr val="E3F4E8"/>
          </a:solidFill>
          <a:ln w="12700">
            <a:solidFill>
              <a:srgbClr val="A7D7B8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322576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57800" y="23042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SDG 13: Climate Action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4800600" y="276148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Targets individual behaviour change by making the CO₂ saved on every trip visible, measurable and rewarding, cutting daily commuting emissions.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2743200" y="3474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Members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914400" y="374904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Mehak ____________________   |   Roll No: ________________   |   Class/Div: __________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Purva ____________________   |   Roll No: ________________   |   Class/Div: __________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2743200" y="42062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Project: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FSDL Mini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828800" y="182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Description &amp;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47472" y="841248"/>
            <a:ext cx="4133088" cy="1188720"/>
          </a:xfrm>
          <a:prstGeom prst="roundRect">
            <a:avLst>
              <a:gd name="adj" fmla="val 6154"/>
            </a:avLst>
          </a:prstGeom>
          <a:solidFill>
            <a:srgbClr val="FBE3E8"/>
          </a:solidFill>
          <a:ln w="12700">
            <a:solidFill>
              <a:srgbClr val="EBB0B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41248" y="9144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Transport is a major source of urban carbon emissions.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People cannot see their own commuting footprint.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Green choices like cycling or the bus get no reward.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663440" y="841248"/>
            <a:ext cx="4133088" cy="1188720"/>
          </a:xfrm>
          <a:prstGeom prst="roundRect">
            <a:avLst>
              <a:gd name="adj" fmla="val 6154"/>
            </a:avLst>
          </a:prstGeom>
          <a:solidFill>
            <a:srgbClr val="E3F4E8"/>
          </a:solidFill>
          <a:ln w="12700">
            <a:solidFill>
              <a:srgbClr val="A7D7B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914400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157216" y="9144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773168" y="128016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 daily trips: walk, cycle, public transport or carpool.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Auto-calculates CO₂ saved vs driving alone, plus a score.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Dashboards and a leaderboard turn it into a habit.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347472" y="2121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6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47472" y="2414016"/>
            <a:ext cx="1426464" cy="530352"/>
          </a:xfrm>
          <a:prstGeom prst="roundRect">
            <a:avLst>
              <a:gd name="adj" fmla="val 13793"/>
            </a:avLst>
          </a:prstGeom>
          <a:solidFill>
            <a:srgbClr val="E3F4E8"/>
          </a:solidFill>
          <a:ln w="12700">
            <a:solidFill>
              <a:srgbClr val="A7D7B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252374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68096" y="2414016"/>
            <a:ext cx="969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Log Trip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1810512" y="2679192"/>
            <a:ext cx="256032" cy="0"/>
          </a:xfrm>
          <a:prstGeom prst="line">
            <a:avLst/>
          </a:prstGeom>
          <a:noFill/>
          <a:ln w="22225">
            <a:solidFill>
              <a:srgbClr val="1E6B3A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2103120" y="2414016"/>
            <a:ext cx="1426464" cy="530352"/>
          </a:xfrm>
          <a:prstGeom prst="roundRect">
            <a:avLst>
              <a:gd name="adj" fmla="val 13793"/>
            </a:avLst>
          </a:prstGeom>
          <a:solidFill>
            <a:srgbClr val="E1EFFA"/>
          </a:solidFill>
          <a:ln w="12700">
            <a:solidFill>
              <a:srgbClr val="A9CBE8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6272" y="2523744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2523744" y="2414016"/>
            <a:ext cx="969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CO₂ Calculated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3566160" y="2679192"/>
            <a:ext cx="256032" cy="0"/>
          </a:xfrm>
          <a:prstGeom prst="line">
            <a:avLst/>
          </a:prstGeom>
          <a:noFill/>
          <a:ln w="22225">
            <a:solidFill>
              <a:srgbClr val="1E6B3A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3858768" y="2414016"/>
            <a:ext cx="1426464" cy="530352"/>
          </a:xfrm>
          <a:prstGeom prst="roundRect">
            <a:avLst>
              <a:gd name="adj" fmla="val 13793"/>
            </a:avLst>
          </a:prstGeom>
          <a:solidFill>
            <a:srgbClr val="FFF1D6"/>
          </a:solidFill>
          <a:ln w="12700">
            <a:solidFill>
              <a:srgbClr val="EDCB8A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2523744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279392" y="2414016"/>
            <a:ext cx="969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Points Earned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5321808" y="2679192"/>
            <a:ext cx="256032" cy="0"/>
          </a:xfrm>
          <a:prstGeom prst="line">
            <a:avLst/>
          </a:prstGeom>
          <a:noFill/>
          <a:ln w="22225">
            <a:solidFill>
              <a:srgbClr val="1E6B3A"/>
            </a:solidFill>
            <a:prstDash val="solid"/>
            <a:tailEnd type="triangle"/>
          </a:ln>
        </p:spPr>
      </p:sp>
      <p:sp>
        <p:nvSpPr>
          <p:cNvPr id="24" name="Shape 17"/>
          <p:cNvSpPr/>
          <p:nvPr/>
        </p:nvSpPr>
        <p:spPr>
          <a:xfrm>
            <a:off x="5614416" y="2414016"/>
            <a:ext cx="1426464" cy="530352"/>
          </a:xfrm>
          <a:prstGeom prst="roundRect">
            <a:avLst>
              <a:gd name="adj" fmla="val 13793"/>
            </a:avLst>
          </a:prstGeom>
          <a:solidFill>
            <a:srgbClr val="ECE6F7"/>
          </a:solidFill>
          <a:ln w="12700">
            <a:solidFill>
              <a:srgbClr val="C4B6E6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7568" y="2523744"/>
            <a:ext cx="310896" cy="31089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035040" y="2414016"/>
            <a:ext cx="969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Dashboard Updates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7077456" y="2679192"/>
            <a:ext cx="256032" cy="0"/>
          </a:xfrm>
          <a:prstGeom prst="line">
            <a:avLst/>
          </a:prstGeom>
          <a:noFill/>
          <a:ln w="22225">
            <a:solidFill>
              <a:srgbClr val="1E6B3A"/>
            </a:solidFill>
            <a:prstDash val="solid"/>
            <a:tailEnd type="triangle"/>
          </a:ln>
        </p:spPr>
      </p:sp>
      <p:sp>
        <p:nvSpPr>
          <p:cNvPr id="28" name="Shape 20"/>
          <p:cNvSpPr/>
          <p:nvPr/>
        </p:nvSpPr>
        <p:spPr>
          <a:xfrm>
            <a:off x="7370064" y="2414016"/>
            <a:ext cx="1426464" cy="530352"/>
          </a:xfrm>
          <a:prstGeom prst="roundRect">
            <a:avLst>
              <a:gd name="adj" fmla="val 13793"/>
            </a:avLst>
          </a:prstGeom>
          <a:solidFill>
            <a:srgbClr val="DDF2EF"/>
          </a:solidFill>
          <a:ln w="12700">
            <a:solidFill>
              <a:srgbClr val="A3D9D1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3216" y="2523744"/>
            <a:ext cx="310896" cy="310896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790688" y="2414016"/>
            <a:ext cx="969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Ranks Update</a:t>
            </a:r>
            <a:endParaRPr lang="en-US" sz="1200" dirty="0"/>
          </a:p>
        </p:txBody>
      </p:sp>
      <p:sp>
        <p:nvSpPr>
          <p:cNvPr id="31" name="Text 22"/>
          <p:cNvSpPr txBox="1"/>
          <p:nvPr/>
        </p:nvSpPr>
        <p:spPr>
          <a:xfrm>
            <a:off x="347472" y="30358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6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Purpose</a:t>
            </a:r>
            <a:endParaRPr lang="en-US" sz="1400" dirty="0"/>
          </a:p>
        </p:txBody>
      </p:sp>
      <p:sp>
        <p:nvSpPr>
          <p:cNvPr id="32" name="Shape 23"/>
          <p:cNvSpPr/>
          <p:nvPr/>
        </p:nvSpPr>
        <p:spPr>
          <a:xfrm>
            <a:off x="347472" y="3328416"/>
            <a:ext cx="1975104" cy="1097280"/>
          </a:xfrm>
          <a:prstGeom prst="roundRect">
            <a:avLst>
              <a:gd name="adj" fmla="val 6667"/>
            </a:avLst>
          </a:prstGeom>
          <a:solidFill>
            <a:srgbClr val="EEF0F2"/>
          </a:solidFill>
          <a:ln w="12700">
            <a:solidFill>
              <a:srgbClr val="C9CED4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912" y="3401568"/>
            <a:ext cx="274320" cy="27432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768096" y="340156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Make Impact Visible</a:t>
            </a:r>
            <a:endParaRPr lang="en-US" sz="1200" dirty="0"/>
          </a:p>
        </p:txBody>
      </p:sp>
      <p:sp>
        <p:nvSpPr>
          <p:cNvPr id="35" name="Text 25"/>
          <p:cNvSpPr txBox="1"/>
          <p:nvPr/>
        </p:nvSpPr>
        <p:spPr>
          <a:xfrm>
            <a:off x="438912" y="3730752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Shows a personal number, like 2.4 kg CO₂ saved this week.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2505456" y="3328416"/>
            <a:ext cx="1975104" cy="1097280"/>
          </a:xfrm>
          <a:prstGeom prst="roundRect">
            <a:avLst>
              <a:gd name="adj" fmla="val 6667"/>
            </a:avLst>
          </a:prstGeom>
          <a:solidFill>
            <a:srgbClr val="EEF0F2"/>
          </a:solidFill>
          <a:ln w="12700">
            <a:solidFill>
              <a:srgbClr val="C9CED4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96896" y="3401568"/>
            <a:ext cx="274320" cy="27432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2926080" y="340156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Motivate Users</a:t>
            </a:r>
            <a:endParaRPr lang="en-US" sz="1200" dirty="0"/>
          </a:p>
        </p:txBody>
      </p:sp>
      <p:sp>
        <p:nvSpPr>
          <p:cNvPr id="39" name="Text 28"/>
          <p:cNvSpPr txBox="1"/>
          <p:nvPr/>
        </p:nvSpPr>
        <p:spPr>
          <a:xfrm>
            <a:off x="2596896" y="3730752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Points, levels, streaks and ranks make green choices feel rewarding.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4663440" y="3328416"/>
            <a:ext cx="1975104" cy="1097280"/>
          </a:xfrm>
          <a:prstGeom prst="roundRect">
            <a:avLst>
              <a:gd name="adj" fmla="val 6667"/>
            </a:avLst>
          </a:prstGeom>
          <a:solidFill>
            <a:srgbClr val="EEF0F2"/>
          </a:solidFill>
          <a:ln w="12700">
            <a:solidFill>
              <a:srgbClr val="C9CED4"/>
            </a:solidFill>
            <a:prstDash val="solid"/>
          </a:ln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0" y="3401568"/>
            <a:ext cx="274320" cy="274320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5084064" y="340156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Help Campuses</a:t>
            </a:r>
            <a:endParaRPr lang="en-US" sz="1200" dirty="0"/>
          </a:p>
        </p:txBody>
      </p:sp>
      <p:sp>
        <p:nvSpPr>
          <p:cNvPr id="43" name="Text 31"/>
          <p:cNvSpPr txBox="1"/>
          <p:nvPr/>
        </p:nvSpPr>
        <p:spPr>
          <a:xfrm>
            <a:off x="4754880" y="3730752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Gives colleges real data on green km and emissions avoided.</a:t>
            </a:r>
            <a:endParaRPr lang="en-US" sz="1200" dirty="0"/>
          </a:p>
        </p:txBody>
      </p:sp>
      <p:sp>
        <p:nvSpPr>
          <p:cNvPr id="44" name="Shape 32"/>
          <p:cNvSpPr/>
          <p:nvPr/>
        </p:nvSpPr>
        <p:spPr>
          <a:xfrm>
            <a:off x="6821424" y="3328416"/>
            <a:ext cx="1975104" cy="1097280"/>
          </a:xfrm>
          <a:prstGeom prst="roundRect">
            <a:avLst>
              <a:gd name="adj" fmla="val 6667"/>
            </a:avLst>
          </a:prstGeom>
          <a:solidFill>
            <a:srgbClr val="EEF0F2"/>
          </a:solidFill>
          <a:ln w="12700">
            <a:solidFill>
              <a:srgbClr val="C9CED4"/>
            </a:solidFill>
            <a:prstDash val="solid"/>
          </a:ln>
        </p:spPr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12864" y="3401568"/>
            <a:ext cx="274320" cy="274320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7242048" y="340156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Habits</a:t>
            </a:r>
            <a:endParaRPr lang="en-US" sz="1200" dirty="0"/>
          </a:p>
        </p:txBody>
      </p:sp>
      <p:sp>
        <p:nvSpPr>
          <p:cNvPr id="47" name="Text 34"/>
          <p:cNvSpPr txBox="1"/>
          <p:nvPr/>
        </p:nvSpPr>
        <p:spPr>
          <a:xfrm>
            <a:off x="6912864" y="3730752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Weekly and monthly tracking rewards consistency, not one-time acts.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828800" y="182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 &amp; Key Features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841248"/>
          <a:ext cx="4023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6517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Objective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EcoCommute Does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Raise Carbon Awareness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Shows the CO₂ saved on each trip versus driving alone, in kg and tree equivalents.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Reward Green Choices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Awards mode-weighted points per trip, with levels from Seedling to Forest.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5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Encourage Consistency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Tracks streaks and weekly and monthly progress to build a habit.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Drive Social Motivation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Ranks users on a leaderboard by CO₂ saved or total score.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5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Support Institutions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Gives campuses measurable data on sustainable commuting.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8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0" y="841248"/>
            <a:ext cx="2066544" cy="786384"/>
          </a:xfrm>
          <a:prstGeom prst="roundRect">
            <a:avLst>
              <a:gd name="adj" fmla="val 9302"/>
            </a:avLst>
          </a:prstGeom>
          <a:solidFill>
            <a:srgbClr val="E3F4E8"/>
          </a:solidFill>
          <a:ln w="12700">
            <a:solidFill>
              <a:srgbClr val="A7D7B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5152" y="914400"/>
            <a:ext cx="274320" cy="274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974336" y="91440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Trip Logging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645152" y="1225296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Pick mode, distance, date and carpool size in seconds.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766560" y="841248"/>
            <a:ext cx="2066544" cy="786384"/>
          </a:xfrm>
          <a:prstGeom prst="roundRect">
            <a:avLst>
              <a:gd name="adj" fmla="val 9302"/>
            </a:avLst>
          </a:prstGeom>
          <a:solidFill>
            <a:srgbClr val="E1EFFA"/>
          </a:solidFill>
          <a:ln w="12700">
            <a:solidFill>
              <a:srgbClr val="A9CBE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712" y="91440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168896" y="91440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CO₂ Calculator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6839712" y="1225296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Auto-computes CO₂ saved vs a car, with a live preview.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4572000" y="1719072"/>
            <a:ext cx="2066544" cy="786384"/>
          </a:xfrm>
          <a:prstGeom prst="roundRect">
            <a:avLst>
              <a:gd name="adj" fmla="val 9302"/>
            </a:avLst>
          </a:prstGeom>
          <a:solidFill>
            <a:srgbClr val="FFF1D6"/>
          </a:solidFill>
          <a:ln w="12700">
            <a:solidFill>
              <a:srgbClr val="EDCB8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1792224"/>
            <a:ext cx="274320" cy="2743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974336" y="179222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 &amp; Levels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4645152" y="210312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Greener modes earn more points; five eco levels.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6766560" y="1719072"/>
            <a:ext cx="2066544" cy="786384"/>
          </a:xfrm>
          <a:prstGeom prst="roundRect">
            <a:avLst>
              <a:gd name="adj" fmla="val 9302"/>
            </a:avLst>
          </a:prstGeom>
          <a:solidFill>
            <a:srgbClr val="ECE6F7"/>
          </a:solidFill>
          <a:ln w="12700">
            <a:solidFill>
              <a:srgbClr val="C4B6E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712" y="1792224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168896" y="179222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Personal Dashboard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6839712" y="210312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Totals, streak, rank and charts of daily CO₂ and modes.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4572000" y="2596896"/>
            <a:ext cx="2066544" cy="786384"/>
          </a:xfrm>
          <a:prstGeom prst="roundRect">
            <a:avLst>
              <a:gd name="adj" fmla="val 9302"/>
            </a:avLst>
          </a:prstGeom>
          <a:solidFill>
            <a:srgbClr val="DDF2EF"/>
          </a:solidFill>
          <a:ln w="12700">
            <a:solidFill>
              <a:srgbClr val="A3D9D1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2670048"/>
            <a:ext cx="274320" cy="27432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4974336" y="267004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Trip History</a:t>
            </a:r>
            <a:endParaRPr lang="en-US" sz="1200" dirty="0"/>
          </a:p>
        </p:txBody>
      </p:sp>
      <p:sp>
        <p:nvSpPr>
          <p:cNvPr id="23" name="Text 15"/>
          <p:cNvSpPr txBox="1"/>
          <p:nvPr/>
        </p:nvSpPr>
        <p:spPr>
          <a:xfrm>
            <a:off x="4645152" y="2980944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Filter, search, delete and export trips to CSV.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6766560" y="2596896"/>
            <a:ext cx="2066544" cy="786384"/>
          </a:xfrm>
          <a:prstGeom prst="roundRect">
            <a:avLst>
              <a:gd name="adj" fmla="val 9302"/>
            </a:avLst>
          </a:prstGeom>
          <a:solidFill>
            <a:srgbClr val="FBE3E8"/>
          </a:solidFill>
          <a:ln w="12700">
            <a:solidFill>
              <a:srgbClr val="EBB0BD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9712" y="2670048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7168896" y="267004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Monthly Statistics</a:t>
            </a:r>
            <a:endParaRPr lang="en-US" sz="1200" dirty="0"/>
          </a:p>
        </p:txBody>
      </p:sp>
      <p:sp>
        <p:nvSpPr>
          <p:cNvPr id="27" name="Text 18"/>
          <p:cNvSpPr txBox="1"/>
          <p:nvPr/>
        </p:nvSpPr>
        <p:spPr>
          <a:xfrm>
            <a:off x="6839712" y="2980944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Month-wise charts, best month and monthly change.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4572000" y="3474720"/>
            <a:ext cx="2066544" cy="786384"/>
          </a:xfrm>
          <a:prstGeom prst="roundRect">
            <a:avLst>
              <a:gd name="adj" fmla="val 9302"/>
            </a:avLst>
          </a:prstGeom>
          <a:solidFill>
            <a:srgbClr val="FFF1D6"/>
          </a:solidFill>
          <a:ln w="12700">
            <a:solidFill>
              <a:srgbClr val="EDCB8A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152" y="3547872"/>
            <a:ext cx="274320" cy="27432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4974336" y="354787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Leaderboard</a:t>
            </a:r>
            <a:endParaRPr lang="en-US" sz="1200" dirty="0"/>
          </a:p>
        </p:txBody>
      </p:sp>
      <p:sp>
        <p:nvSpPr>
          <p:cNvPr id="31" name="Text 21"/>
          <p:cNvSpPr txBox="1"/>
          <p:nvPr/>
        </p:nvSpPr>
        <p:spPr>
          <a:xfrm>
            <a:off x="4645152" y="385876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Rank by CO₂ or score, all time or this month.</a:t>
            </a:r>
            <a:endParaRPr lang="en-US" sz="1200" dirty="0"/>
          </a:p>
        </p:txBody>
      </p:sp>
      <p:sp>
        <p:nvSpPr>
          <p:cNvPr id="32" name="Shape 22"/>
          <p:cNvSpPr/>
          <p:nvPr/>
        </p:nvSpPr>
        <p:spPr>
          <a:xfrm>
            <a:off x="6766560" y="3474720"/>
            <a:ext cx="2066544" cy="786384"/>
          </a:xfrm>
          <a:prstGeom prst="roundRect">
            <a:avLst>
              <a:gd name="adj" fmla="val 9302"/>
            </a:avLst>
          </a:prstGeom>
          <a:solidFill>
            <a:srgbClr val="EEF0F2"/>
          </a:solidFill>
          <a:ln w="12700">
            <a:solidFill>
              <a:srgbClr val="C9CED4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9712" y="3547872"/>
            <a:ext cx="274320" cy="27432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7168896" y="354787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Secure Login</a:t>
            </a:r>
            <a:endParaRPr lang="en-US" sz="1200" dirty="0"/>
          </a:p>
        </p:txBody>
      </p:sp>
      <p:sp>
        <p:nvSpPr>
          <p:cNvPr id="35" name="Text 24"/>
          <p:cNvSpPr txBox="1"/>
          <p:nvPr/>
        </p:nvSpPr>
        <p:spPr>
          <a:xfrm>
            <a:off x="6839712" y="385876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Email and password with bcrypt hashing and JWT.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828800" y="182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 &amp; Core Logic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47472" y="841248"/>
            <a:ext cx="1188720" cy="2139696"/>
          </a:xfrm>
          <a:prstGeom prst="roundRect">
            <a:avLst>
              <a:gd name="adj" fmla="val 6154"/>
            </a:avLst>
          </a:prstGeom>
          <a:solidFill>
            <a:srgbClr val="FBE3E8"/>
          </a:solidFill>
          <a:ln w="12700">
            <a:solidFill>
              <a:srgbClr val="EBB0B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914400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86384" y="91440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20624" y="1280160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6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browser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20624" y="1682496"/>
            <a:ext cx="10607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Logs trips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Views stats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Checks ranks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563624" y="1911096"/>
            <a:ext cx="201168" cy="0"/>
          </a:xfrm>
          <a:prstGeom prst="line">
            <a:avLst/>
          </a:prstGeom>
          <a:noFill/>
          <a:ln w="22225">
            <a:solidFill>
              <a:srgbClr val="1E6B3A"/>
            </a:solidFill>
            <a:prstDash val="solid"/>
            <a:headEnd type="triangl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1792224" y="841248"/>
            <a:ext cx="2240280" cy="2139696"/>
          </a:xfrm>
          <a:prstGeom prst="roundRect">
            <a:avLst>
              <a:gd name="adj" fmla="val 3419"/>
            </a:avLst>
          </a:prstGeom>
          <a:solidFill>
            <a:srgbClr val="ECE6F7"/>
          </a:solidFill>
          <a:ln w="12700">
            <a:solidFill>
              <a:srgbClr val="C4B6E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376" y="91440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231136" y="914400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865376" y="1280160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6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HTML5, CSS3, JavaScript, Bootstrap 5, Chart.js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865376" y="1682496"/>
            <a:ext cx="211226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pages: Home, Login, Sign Up, Dashboard, Log Trip, History, Stats, Leaderboard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fetch() calls to the REST API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059936" y="1911096"/>
            <a:ext cx="201168" cy="0"/>
          </a:xfrm>
          <a:prstGeom prst="line">
            <a:avLst/>
          </a:prstGeom>
          <a:noFill/>
          <a:ln w="22225">
            <a:solidFill>
              <a:srgbClr val="1E6B3A"/>
            </a:solidFill>
            <a:prstDash val="solid"/>
            <a:headEnd type="triangle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288536" y="841248"/>
            <a:ext cx="2240280" cy="2139696"/>
          </a:xfrm>
          <a:prstGeom prst="roundRect">
            <a:avLst>
              <a:gd name="adj" fmla="val 3419"/>
            </a:avLst>
          </a:prstGeom>
          <a:solidFill>
            <a:srgbClr val="E1EFFA"/>
          </a:solidFill>
          <a:ln w="12700">
            <a:solidFill>
              <a:srgbClr val="A9CBE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914400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727448" y="914400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 (API)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361688" y="1280160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6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Node.js | Express.js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4361688" y="1682496"/>
            <a:ext cx="211226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/auth, /trips, /stats, /leaderboard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JWT auth, bcrypt hashing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Validation and CO₂ calculation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556248" y="1911096"/>
            <a:ext cx="201168" cy="0"/>
          </a:xfrm>
          <a:prstGeom prst="line">
            <a:avLst/>
          </a:prstGeom>
          <a:noFill/>
          <a:ln w="22225">
            <a:solidFill>
              <a:srgbClr val="1E6B3A"/>
            </a:solidFill>
            <a:prstDash val="solid"/>
            <a:headEnd type="triangle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6784848" y="841248"/>
            <a:ext cx="2011680" cy="2139696"/>
          </a:xfrm>
          <a:prstGeom prst="roundRect">
            <a:avLst>
              <a:gd name="adj" fmla="val 3636"/>
            </a:avLst>
          </a:prstGeom>
          <a:solidFill>
            <a:srgbClr val="FFF1D6"/>
          </a:solidFill>
          <a:ln w="12700">
            <a:solidFill>
              <a:srgbClr val="EDCB8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914400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223760" y="91440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6858000" y="128016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6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SQLite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6858000" y="1682496"/>
            <a:ext cx="188366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users: id, name, email, password_hash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trips: id, user_id, mode, distance, passengers, date, co2_saved, points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3127248"/>
          <a:ext cx="42976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645920"/>
                <a:gridCol w="1097280"/>
              </a:tblGrid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Emission (g CO₂/km)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Base Points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3A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Car (driving alone)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120 (baseline)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Walking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5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Cycling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Public Transport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5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Carpool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120 ÷ people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8"/>
                    </a:solidFill>
                  </a:tcPr>
                </a:tc>
              </a:tr>
            </a:tbl>
          </a:graphicData>
        </a:graphic>
      </p:graphicFrame>
      <p:sp>
        <p:nvSpPr>
          <p:cNvPr id="27" name="Shape 20"/>
          <p:cNvSpPr/>
          <p:nvPr/>
        </p:nvSpPr>
        <p:spPr>
          <a:xfrm>
            <a:off x="4846320" y="3127248"/>
            <a:ext cx="3950208" cy="1289304"/>
          </a:xfrm>
          <a:prstGeom prst="roundRect">
            <a:avLst>
              <a:gd name="adj" fmla="val 5674"/>
            </a:avLst>
          </a:prstGeom>
          <a:solidFill>
            <a:srgbClr val="EEF0F2"/>
          </a:solidFill>
          <a:ln w="12700">
            <a:solidFill>
              <a:srgbClr val="C9CED4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200400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303520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Calculation Logic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4937760" y="3529584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CO₂ saved = (120 - mode emission) × distance</a:t>
            </a:r>
            <a:endParaRPr lang="en-US" sz="12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Points = base + floor(distance × base ÷ 10)</a:t>
            </a:r>
            <a:endParaRPr lang="en-US" sz="12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Example: Cycling 5 km = 600 g (0.6 kg) saved, 15 points</a:t>
            </a:r>
            <a:endParaRPr lang="en-US" sz="12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logic file runs in the browser and on the server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828800" y="182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 &amp; Progress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47472" y="804672"/>
            <a:ext cx="8449056" cy="329184"/>
          </a:xfrm>
          <a:prstGeom prst="roundRect">
            <a:avLst>
              <a:gd name="adj" fmla="val 22222"/>
            </a:avLst>
          </a:prstGeom>
          <a:solidFill>
            <a:srgbClr val="ECE6F7"/>
          </a:solidFill>
          <a:ln w="12700">
            <a:solidFill>
              <a:srgbClr val="C4B6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EcoCommute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is being built iteratively: each stage is planned, implemented and tested before moving to the next.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243584"/>
            <a:ext cx="1261872" cy="1920240"/>
          </a:xfrm>
          <a:prstGeom prst="roundRect">
            <a:avLst>
              <a:gd name="adj" fmla="val 5797"/>
            </a:avLst>
          </a:prstGeom>
          <a:solidFill>
            <a:srgbClr val="F9DDE5"/>
          </a:solidFill>
          <a:ln w="12700">
            <a:solidFill>
              <a:srgbClr val="EBB0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" y="1316736"/>
            <a:ext cx="292608" cy="292608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32104" y="1316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02336" y="164592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Requirement Analysis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20624" y="2084832"/>
            <a:ext cx="1115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study, MVP scope and CO₂ logic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" y="2871216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" y="28712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627632" y="2203704"/>
            <a:ext cx="137160" cy="0"/>
          </a:xfrm>
          <a:prstGeom prst="line">
            <a:avLst/>
          </a:prstGeom>
          <a:noFill/>
          <a:ln w="22225">
            <a:solidFill>
              <a:srgbClr val="1E6B3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784909" y="1243584"/>
            <a:ext cx="1261872" cy="1920240"/>
          </a:xfrm>
          <a:prstGeom prst="roundRect">
            <a:avLst>
              <a:gd name="adj" fmla="val 5797"/>
            </a:avLst>
          </a:prstGeom>
          <a:solidFill>
            <a:srgbClr val="ECE6F7"/>
          </a:solidFill>
          <a:ln w="12700">
            <a:solidFill>
              <a:srgbClr val="C4B6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69541" y="1316736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69541" y="1316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839773" y="164592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UI/UX Design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858061" y="2084832"/>
            <a:ext cx="1115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 layouts, user flow and green theme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12925" y="2871216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12925" y="28712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65069" y="2203704"/>
            <a:ext cx="137160" cy="0"/>
          </a:xfrm>
          <a:prstGeom prst="line">
            <a:avLst/>
          </a:prstGeom>
          <a:noFill/>
          <a:ln w="22225">
            <a:solidFill>
              <a:srgbClr val="1E6B3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222346" y="1243584"/>
            <a:ext cx="1261872" cy="1920240"/>
          </a:xfrm>
          <a:prstGeom prst="roundRect">
            <a:avLst>
              <a:gd name="adj" fmla="val 5797"/>
            </a:avLst>
          </a:prstGeom>
          <a:solidFill>
            <a:srgbClr val="E1EFFA"/>
          </a:solidFill>
          <a:ln w="12700">
            <a:solidFill>
              <a:srgbClr val="A9CB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06978" y="1316736"/>
            <a:ext cx="292608" cy="292608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706978" y="1316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277210" y="164592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 Development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295498" y="2084832"/>
            <a:ext cx="1115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responsive pages with Bootstrap and Chart.js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50362" y="2871216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50362" y="28712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02506" y="2203704"/>
            <a:ext cx="137160" cy="0"/>
          </a:xfrm>
          <a:prstGeom prst="line">
            <a:avLst/>
          </a:prstGeom>
          <a:noFill/>
          <a:ln w="22225">
            <a:solidFill>
              <a:srgbClr val="1E6B3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659782" y="1243584"/>
            <a:ext cx="1261872" cy="1920240"/>
          </a:xfrm>
          <a:prstGeom prst="roundRect">
            <a:avLst>
              <a:gd name="adj" fmla="val 5797"/>
            </a:avLst>
          </a:prstGeom>
          <a:solidFill>
            <a:srgbClr val="DDF2EF"/>
          </a:solidFill>
          <a:ln w="12700">
            <a:solidFill>
              <a:srgbClr val="A3D9D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44414" y="1316736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144414" y="1316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714646" y="164592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 &amp; Database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732934" y="2084832"/>
            <a:ext cx="1115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Express API, JWT auth and SQLite schema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87798" y="2871216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787798" y="28712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939942" y="2203704"/>
            <a:ext cx="137160" cy="0"/>
          </a:xfrm>
          <a:prstGeom prst="line">
            <a:avLst/>
          </a:prstGeom>
          <a:noFill/>
          <a:ln w="22225">
            <a:solidFill>
              <a:srgbClr val="1E6B3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097219" y="1243584"/>
            <a:ext cx="1261872" cy="1920240"/>
          </a:xfrm>
          <a:prstGeom prst="roundRect">
            <a:avLst>
              <a:gd name="adj" fmla="val 5797"/>
            </a:avLst>
          </a:prstGeom>
          <a:solidFill>
            <a:srgbClr val="FFF1D6"/>
          </a:solidFill>
          <a:ln w="12700">
            <a:solidFill>
              <a:srgbClr val="EDCB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81851" y="1316736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81851" y="1316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152083" y="164592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 &amp; Refinement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170371" y="2084832"/>
            <a:ext cx="1115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 flows, validation and UI polish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225235" y="2871216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225235" y="28712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377379" y="2203704"/>
            <a:ext cx="137160" cy="0"/>
          </a:xfrm>
          <a:prstGeom prst="line">
            <a:avLst/>
          </a:prstGeom>
          <a:noFill/>
          <a:ln w="22225">
            <a:solidFill>
              <a:srgbClr val="1E6B3A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534656" y="1243584"/>
            <a:ext cx="1261872" cy="1920240"/>
          </a:xfrm>
          <a:prstGeom prst="roundRect">
            <a:avLst>
              <a:gd name="adj" fmla="val 5797"/>
            </a:avLst>
          </a:prstGeom>
          <a:solidFill>
            <a:srgbClr val="EEF0F2"/>
          </a:solidFill>
          <a:ln w="12700">
            <a:solidFill>
              <a:srgbClr val="C9CED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19288" y="1316736"/>
            <a:ext cx="292608" cy="29260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019288" y="1316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7589520" y="164592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Deployment &amp; Growth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7607808" y="2084832"/>
            <a:ext cx="1115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hosting, badges and maps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662672" y="2871216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662672" y="28712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Upcoming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47472" y="3273552"/>
            <a:ext cx="4133088" cy="1152144"/>
          </a:xfrm>
          <a:prstGeom prst="roundRect">
            <a:avLst>
              <a:gd name="adj" fmla="val 6349"/>
            </a:avLst>
          </a:prstGeom>
          <a:solidFill>
            <a:srgbClr val="E3F4E8"/>
          </a:solidFill>
          <a:ln w="12700">
            <a:solidFill>
              <a:srgbClr val="A7D7B8"/>
            </a:solidFill>
            <a:prstDash val="solid"/>
          </a:ln>
        </p:spPr>
      </p:sp>
      <p:pic>
        <p:nvPicPr>
          <p:cNvPr id="5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337560"/>
            <a:ext cx="274320" cy="274320"/>
          </a:xfrm>
          <a:prstGeom prst="rect">
            <a:avLst/>
          </a:prstGeom>
        </p:spPr>
      </p:pic>
      <p:sp>
        <p:nvSpPr>
          <p:cNvPr id="54" name="Text 51"/>
          <p:cNvSpPr txBox="1"/>
          <p:nvPr/>
        </p:nvSpPr>
        <p:spPr>
          <a:xfrm>
            <a:off x="804672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Progress Achieved (Evaluation 1)</a:t>
            </a:r>
            <a:endParaRPr lang="en-US" sz="1400" dirty="0"/>
          </a:p>
        </p:txBody>
      </p:sp>
      <p:sp>
        <p:nvSpPr>
          <p:cNvPr id="55" name="Text 52"/>
          <p:cNvSpPr txBox="1"/>
          <p:nvPr/>
        </p:nvSpPr>
        <p:spPr>
          <a:xfrm>
            <a:off x="438912" y="3648456"/>
            <a:ext cx="3977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8 pages built and connected to a live backend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 REST API endpoints with authentication and validation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CO₂ and points logic shared by frontend and backend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 data: 8 users with 5 months of trip history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4663440" y="3273552"/>
            <a:ext cx="4133088" cy="1152144"/>
          </a:xfrm>
          <a:prstGeom prst="roundRect">
            <a:avLst>
              <a:gd name="adj" fmla="val 6349"/>
            </a:avLst>
          </a:prstGeom>
          <a:solidFill>
            <a:srgbClr val="E1EFFA"/>
          </a:solidFill>
          <a:ln w="12700">
            <a:solidFill>
              <a:srgbClr val="A9CBE8"/>
            </a:solidFill>
            <a:prstDash val="solid"/>
          </a:ln>
        </p:spPr>
      </p:sp>
      <p:pic>
        <p:nvPicPr>
          <p:cNvPr id="5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337560"/>
            <a:ext cx="274320" cy="274320"/>
          </a:xfrm>
          <a:prstGeom prst="rect">
            <a:avLst/>
          </a:prstGeom>
        </p:spPr>
      </p:pic>
      <p:sp>
        <p:nvSpPr>
          <p:cNvPr id="58" name="Text 54"/>
          <p:cNvSpPr txBox="1"/>
          <p:nvPr/>
        </p:nvSpPr>
        <p:spPr>
          <a:xfrm>
            <a:off x="512064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59" name="Text 55"/>
          <p:cNvSpPr txBox="1"/>
          <p:nvPr/>
        </p:nvSpPr>
        <p:spPr>
          <a:xfrm>
            <a:off x="4754880" y="3648456"/>
            <a:ext cx="3977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Badges for milestones such as 100 km cycled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 vs class and college vs college competitions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Maps API for automatic distance tracking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Trip reminders and cloud deployment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EcoCommute: First Evaluation</dc:title>
  <dc:subject>EcoCommute FSDL Mini Project</dc:subject>
  <dc:creator>Mehak &amp; Purva</dc:creator>
  <cp:lastModifiedBy>Mehak &amp; Purva</cp:lastModifiedBy>
  <cp:revision>1</cp:revision>
  <dcterms:created xsi:type="dcterms:W3CDTF">2026-09-28T14:34:07Z</dcterms:created>
  <dcterms:modified xsi:type="dcterms:W3CDTF">2026-09-28T14:34:07Z</dcterms:modified>
</cp:coreProperties>
</file>